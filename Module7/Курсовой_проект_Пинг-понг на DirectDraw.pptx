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9" r:id="rId8"/>
    <p:sldId id="265" r:id="rId9"/>
    <p:sldId id="271" r:id="rId10"/>
    <p:sldId id="272" r:id="rId11"/>
    <p:sldId id="264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322" autoAdjust="0"/>
  </p:normalViewPr>
  <p:slideViewPr>
    <p:cSldViewPr snapToGrid="0">
      <p:cViewPr varScale="1">
        <p:scale>
          <a:sx n="74" d="100"/>
          <a:sy n="74" d="100"/>
        </p:scale>
        <p:origin x="92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87F73-0C88-42F2-9BDE-7590B0D75213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A92BD3-E36B-4B68-977F-E48C6B6508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665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92BD3-E36B-4B68-977F-E48C6B65089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570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BB1EB-4129-3F81-848D-9311F1B1E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39E53F-F31D-5160-CEE2-7F22B418D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09DE1E-5C51-1AAD-9076-8EFB5F6AC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18C5-2AE0-4FFF-9C3C-7410AC1801E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2B0408-9ACF-3EB8-DDB7-84401D1ED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20822B-177D-53BC-7B88-716AA9AD0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82C-55D8-4E5D-997C-25D41C1D5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630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9C0A57-23C5-7D9F-FDB9-CE83AA7C6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C915C5-E464-28F2-7BCA-52AF58AD9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75D63A-E0BE-0553-1727-19CEC9D55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18C5-2AE0-4FFF-9C3C-7410AC1801E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2885D4-D144-A1A9-67FE-E3A8B5671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5CD164-F738-4E15-06D5-30EF810F0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82C-55D8-4E5D-997C-25D41C1D5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110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0D309B-ADA2-1F3C-F35C-1D07767FE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532E00-A406-C1E2-1466-9A55D3C25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0A9FDF-9EEE-12FE-6DCF-FAB7D404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18C5-2AE0-4FFF-9C3C-7410AC1801E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5304CA-5972-0A35-196E-1B0B1F3D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91E892-7C82-D61A-2A3D-F5C48AB2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82C-55D8-4E5D-997C-25D41C1D5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91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D0DAE-6DC5-5064-F708-5B531B08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839610-11B7-B00E-CA53-A8E8ACA3B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E97CC8-36E3-6846-354C-ED15CE42A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74E4B7-7218-2966-2ABA-FFA6DF2B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18C5-2AE0-4FFF-9C3C-7410AC1801E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3C8EF1-E584-9AA5-45DD-5C98496CC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6F5516-FA66-C403-8E3C-A8B12B083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82C-55D8-4E5D-997C-25D41C1D5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365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FA2954-0895-ED55-6A8A-41766384A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9AE9B1-599F-F359-CD93-C11A6055D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7D0069-9571-6661-F3D5-BC0433D98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258C3FE-96A3-6375-AD20-2B1928EE8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25ED065-F12B-313C-0A40-1072AA388E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E7E4E0A-A51C-9741-681F-7E33B74F6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18C5-2AE0-4FFF-9C3C-7410AC1801E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E4B534C-7B58-3738-6080-998A4295E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751EA1-96E8-70D8-EA9C-E26B4EAE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82C-55D8-4E5D-997C-25D41C1D5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369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4587F9-3D1F-9ED7-2A8D-5A16CD8C6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FDEAE97-0BE4-129A-3E69-7B92D78AB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18C5-2AE0-4FFF-9C3C-7410AC1801E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B20625B-87AA-4159-2163-6C16B694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91737D-EAF2-2B78-13B8-891940CB6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82C-55D8-4E5D-997C-25D41C1D5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303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86E0A7F-7980-151B-ACAF-21A9D77FB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18C5-2AE0-4FFF-9C3C-7410AC1801E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396E539-BFBE-BB31-FB97-8E9BAFB97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12FB39-607C-AD84-2B44-222C3E23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82C-55D8-4E5D-997C-25D41C1D5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051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31D87-E1F6-750F-05F0-585B0068E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BED829-D3F6-E1D6-D433-CEB1BC330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AAAB37-3C8F-751D-6087-BC4B56B10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9C7F04-E58E-620E-7698-1CD1BACD2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18C5-2AE0-4FFF-9C3C-7410AC1801E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8E2B54-E04A-98A7-478B-92D9E78C0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07C771-0038-2EE7-2E61-8B65705FF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82C-55D8-4E5D-997C-25D41C1D5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646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BB9E7C-FF79-BAFA-F7BF-77A6E3A4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38FE896-F0EC-D15F-5164-2BA75850A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B5A77B-B324-F484-8D6F-C48416AC1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36655B-6B71-5C45-D4E4-D822973C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18C5-2AE0-4FFF-9C3C-7410AC1801E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BAF1AD-A915-E4E7-4BC7-1E4B575D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53BF67-C8AA-32E4-B600-763F2FE57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82C-55D8-4E5D-997C-25D41C1D5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491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F5D8B-EF4F-3175-BF73-DF5BB78EE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E7FB99-D594-2393-BC06-473E9A5B2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C3B592-5421-8157-F750-C9CC51A13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18C5-2AE0-4FFF-9C3C-7410AC1801E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FC6C8A-BE35-4250-DFF5-5C619B1F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19B562-465B-C5CC-8B70-09C69D057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82C-55D8-4E5D-997C-25D41C1D5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780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1CB780B-D409-9244-1705-067DB6DCF9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F45BC11-695D-5863-CD16-B999538FD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20A5C8-D211-C23A-04CF-C65C25A41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18C5-2AE0-4FFF-9C3C-7410AC1801E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9E983-97BE-8B88-8D86-1E7159AC6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43CC04-F81A-7940-E669-90E39B374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82C-55D8-4E5D-997C-25D41C1D5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356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D9BB12-F98F-1951-239D-11BCC839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9AAF07-4D60-95EA-D4BD-7CE9F3E7E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465DF9-C80D-831F-41E9-2401C13F6F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918C5-2AE0-4FFF-9C3C-7410AC1801E9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5A881E-1144-C0BC-CDD7-886A61540C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200CAA-9BE7-B970-EB00-6BDC61263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E182C-55D8-4E5D-997C-25D41C1D5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589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B075779D-E6C4-2C92-B5D3-54A3EC181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A6DD47-64FB-3899-ED98-5F98B3A06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320" y="3957902"/>
            <a:ext cx="2627406" cy="260036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15839F-CA68-A72D-9BAE-387B08796C5F}"/>
              </a:ext>
            </a:extLst>
          </p:cNvPr>
          <p:cNvSpPr txBox="1"/>
          <p:nvPr/>
        </p:nvSpPr>
        <p:spPr>
          <a:xfrm>
            <a:off x="450894" y="143762"/>
            <a:ext cx="110773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40385" algn="ctr"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Республики Беларусь</a:t>
            </a:r>
            <a:endParaRPr lang="ru-BY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ctr"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Оршанский колледж учреждения образования</a:t>
            </a:r>
            <a:endParaRPr lang="ru-BY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ctr"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«Витебский государственный университет имени П.М. Машерова</a:t>
            </a:r>
            <a:r>
              <a:rPr lang="ru-RU" sz="2400" spc="1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BY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EA0AE9-6D8D-63DA-C6DE-666A0FAA68AC}"/>
              </a:ext>
            </a:extLst>
          </p:cNvPr>
          <p:cNvSpPr txBox="1"/>
          <p:nvPr/>
        </p:nvSpPr>
        <p:spPr>
          <a:xfrm>
            <a:off x="241297" y="1312209"/>
            <a:ext cx="114998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40385" algn="ctr"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5-04-0612-02 Разработка и сопровождение программного обеспечения </a:t>
            </a:r>
            <a:endParaRPr lang="ru-BY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информационных систем</a:t>
            </a:r>
            <a:endParaRPr lang="ru-BY" sz="2000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C1B08DF9-DF08-13D3-07E8-DF1B3AADC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777" y="2271578"/>
            <a:ext cx="10006445" cy="1686324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Игровое приложение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Ping Pong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DirectDraw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учебному предмету «Основы алгоритмизации и программирования»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BY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Подзаголовок 2">
            <a:extLst>
              <a:ext uri="{FF2B5EF4-FFF2-40B4-BE49-F238E27FC236}">
                <a16:creationId xmlns:a16="http://schemas.microsoft.com/office/drawing/2014/main" id="{9B899295-1AEF-9391-23BF-39B767F5B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52" y="4279963"/>
            <a:ext cx="5151584" cy="2255919"/>
          </a:xfrm>
        </p:spPr>
        <p:txBody>
          <a:bodyPr>
            <a:normAutofit/>
          </a:bodyPr>
          <a:lstStyle/>
          <a:p>
            <a:pPr algn="l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Подготовил: учащ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ийся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Оршанского колледжа ВГУ имени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П.М.Машерова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учебной группы 2ПОИС24               Романкевич Андрей Александрович</a:t>
            </a:r>
          </a:p>
          <a:p>
            <a:pPr algn="l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курсового проектирования: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Юржиц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Светлана Леонидовна</a:t>
            </a:r>
          </a:p>
          <a:p>
            <a:pPr algn="just"/>
            <a:endParaRPr lang="ru-RU" sz="2000" dirty="0">
              <a:solidFill>
                <a:schemeClr val="accent3">
                  <a:lumMod val="75000"/>
                </a:schemeClr>
              </a:solidFill>
            </a:endParaRPr>
          </a:p>
          <a:p>
            <a:pPr algn="just"/>
            <a:endParaRPr lang="ru-RU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46072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12C99207-3147-FC0E-661E-B27785B6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BE92EB-BB7A-69FA-3276-B95BE063F8B5}"/>
              </a:ext>
            </a:extLst>
          </p:cNvPr>
          <p:cNvSpPr txBox="1"/>
          <p:nvPr/>
        </p:nvSpPr>
        <p:spPr>
          <a:xfrm>
            <a:off x="312821" y="23729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latin typeface="Bahnschrift SemiBold Condensed" panose="020B0502040204020203" pitchFamily="34" charset="0"/>
              </a:rPr>
              <a:t>Цель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9D731B-DB0B-7F16-4356-C1723E8D66C6}"/>
              </a:ext>
            </a:extLst>
          </p:cNvPr>
          <p:cNvSpPr txBox="1"/>
          <p:nvPr/>
        </p:nvSpPr>
        <p:spPr>
          <a:xfrm>
            <a:off x="312821" y="859304"/>
            <a:ext cx="62082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sz="4400" dirty="0">
                <a:latin typeface="Bahnschrift SemiBold Condensed" panose="020B0502040204020203" pitchFamily="34" charset="0"/>
              </a:rPr>
              <a:t>Курсового проектирования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86A56C-C28D-9092-1439-1F7B891D1472}"/>
              </a:ext>
            </a:extLst>
          </p:cNvPr>
          <p:cNvSpPr txBox="1"/>
          <p:nvPr/>
        </p:nvSpPr>
        <p:spPr>
          <a:xfrm>
            <a:off x="312821" y="1866037"/>
            <a:ext cx="6713621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Цель курсового проектирования заключается в закреплении, углублении и систематизации теоретических знаний и практических навыков, </a:t>
            </a:r>
            <a:r>
              <a:rPr lang="ru-RU" sz="27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полученных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в ходе изучения учебного предмета «Основы алгоритмизации и программирования», формировании навыков самостоятельного решения поставленных задач, а также в разработке игрового приложения «Пинг-понг» на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DirectDraw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26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F3AE6FF-50FB-D127-8F00-CF2986897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81000"/>
            <a:ext cx="4572000" cy="304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8EDC07-93E9-BAFD-01FF-BF9076A0A8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388" y="4049816"/>
            <a:ext cx="2452423" cy="242718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1362792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5D139693-2D13-7264-6C0A-E111E4AF6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3EE2F6-6583-8F45-5204-E592F9F8D8C6}"/>
              </a:ext>
            </a:extLst>
          </p:cNvPr>
          <p:cNvSpPr txBox="1"/>
          <p:nvPr/>
        </p:nvSpPr>
        <p:spPr>
          <a:xfrm>
            <a:off x="170047" y="87649"/>
            <a:ext cx="62082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latin typeface="Bahnschrift SemiBold Condensed" panose="020B0502040204020203" pitchFamily="34" charset="0"/>
              </a:rPr>
              <a:t>Задачи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C7C2A5-1521-677F-8FE5-1709A5C4181D}"/>
              </a:ext>
            </a:extLst>
          </p:cNvPr>
          <p:cNvSpPr txBox="1"/>
          <p:nvPr/>
        </p:nvSpPr>
        <p:spPr>
          <a:xfrm>
            <a:off x="170047" y="857090"/>
            <a:ext cx="62082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sz="4400" dirty="0">
                <a:latin typeface="Bahnschrift SemiBold Condensed" panose="020B0502040204020203" pitchFamily="34" charset="0"/>
              </a:rPr>
              <a:t>Курсового проектирования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F682B-C868-9994-C941-7CC3C141B845}"/>
              </a:ext>
            </a:extLst>
          </p:cNvPr>
          <p:cNvSpPr txBox="1"/>
          <p:nvPr/>
        </p:nvSpPr>
        <p:spPr>
          <a:xfrm>
            <a:off x="194352" y="1626531"/>
            <a:ext cx="1169284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40385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достижения поставленной цели были определены следующие задачи: </a:t>
            </a:r>
          </a:p>
          <a:p>
            <a:pPr indent="540385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‒ изучить и проанализировать предметную область темы проекта; </a:t>
            </a:r>
          </a:p>
          <a:p>
            <a:pPr indent="540385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‒ рассмотреть аналогичные по теме проекта программы; </a:t>
            </a:r>
          </a:p>
          <a:p>
            <a:pPr indent="540385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‒ спроектировать программное средство с помощью различных диаграмм; </a:t>
            </a:r>
          </a:p>
          <a:p>
            <a:pPr indent="540385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‒ определить технологии разработки ПО; </a:t>
            </a:r>
          </a:p>
          <a:p>
            <a:pPr indent="540385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‒ разработать программное средство; </a:t>
            </a:r>
          </a:p>
          <a:p>
            <a:pPr indent="540385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‒ разработать документацию к программному средству; </a:t>
            </a:r>
          </a:p>
          <a:p>
            <a:pPr indent="539750">
              <a:tabLst>
                <a:tab pos="623888" algn="l"/>
                <a:tab pos="893763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‒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справочную документацию по использованию программного средства; </a:t>
            </a:r>
          </a:p>
          <a:p>
            <a:pPr indent="540385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‒ провести тестирование программного средства. </a:t>
            </a:r>
            <a:endParaRPr lang="ru-RU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Также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рамках проекта были изучены методы анализа пользовательских требований и разработка функциональных программных решений, способных эффективно удовлетворить эти требования. </a:t>
            </a:r>
          </a:p>
        </p:txBody>
      </p:sp>
    </p:spTree>
    <p:extLst>
      <p:ext uri="{BB962C8B-B14F-4D97-AF65-F5344CB8AC3E}">
        <p14:creationId xmlns:p14="http://schemas.microsoft.com/office/powerpoint/2010/main" val="282319435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EF7AAAEF-0306-FF07-98E7-0EC4CD5B7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A7597A-A6A0-9678-03E1-38EFF8A52214}"/>
              </a:ext>
            </a:extLst>
          </p:cNvPr>
          <p:cNvSpPr txBox="1"/>
          <p:nvPr/>
        </p:nvSpPr>
        <p:spPr>
          <a:xfrm>
            <a:off x="266699" y="185868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latin typeface="Bahnschrift SemiBold Condensed" panose="020B0502040204020203" pitchFamily="34" charset="0"/>
              </a:rPr>
              <a:t>Актуальность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6AAECF-7617-669F-6FFA-5ED87B19F2D8}"/>
              </a:ext>
            </a:extLst>
          </p:cNvPr>
          <p:cNvSpPr txBox="1"/>
          <p:nvPr/>
        </p:nvSpPr>
        <p:spPr>
          <a:xfrm>
            <a:off x="266699" y="756456"/>
            <a:ext cx="62082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sz="4400" dirty="0">
                <a:latin typeface="Bahnschrift Condensed" panose="020B0502040204020203" pitchFamily="34" charset="0"/>
              </a:rPr>
              <a:t>Курсового проектирования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36F160-A48E-60C8-07A2-53DF6E3BF7D5}"/>
              </a:ext>
            </a:extLst>
          </p:cNvPr>
          <p:cNvSpPr txBox="1"/>
          <p:nvPr/>
        </p:nvSpPr>
        <p:spPr>
          <a:xfrm>
            <a:off x="266698" y="1402591"/>
            <a:ext cx="647499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BY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курсового проектирования состоит в том, что в современном мире, несмотря на обилие готовых игровых движков и фреймворков, остаётся важной задачей понимание фундаментальных принципов работы компьютерной графики. Разработка игр с использованием низкоуровневых графических API, таких как </a:t>
            </a:r>
            <a:r>
              <a:rPr lang="ru-BY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DirectDraw</a:t>
            </a:r>
            <a:r>
              <a:rPr lang="ru-BY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позволяет детально разобраться в управлении видеопамятью, двойной буферизации, обработке столкновений и построении игрового цикла. В связи с этим, создание классической аркадной игры «Пинг-понг» на </a:t>
            </a:r>
            <a:r>
              <a:rPr lang="ru-BY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DirectDraw</a:t>
            </a:r>
            <a:r>
              <a:rPr lang="ru-BY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становится особенно значимой задачей, так как позволяет не только получить полноценный игровой продукт, но и сформировать глубокое понимание процессов, лежащих в основе современных графических библиотек.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36" name="Picture 16" descr="Разработка программного обеспечения документы">
            <a:extLst>
              <a:ext uri="{FF2B5EF4-FFF2-40B4-BE49-F238E27FC236}">
                <a16:creationId xmlns:a16="http://schemas.microsoft.com/office/drawing/2014/main" id="{4EF5C83C-EEEE-42FD-58CB-ABB592E5C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693" y="331808"/>
            <a:ext cx="5183608" cy="36001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69CB28B-2440-FECB-F792-DF7BB987F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634" y="4263728"/>
            <a:ext cx="2452423" cy="242718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3956556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225C1529-B3DA-3984-055D-6C6612B97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B56C1E-15CA-6F7C-52D5-1C7357BE66E3}"/>
              </a:ext>
            </a:extLst>
          </p:cNvPr>
          <p:cNvSpPr txBox="1"/>
          <p:nvPr/>
        </p:nvSpPr>
        <p:spPr>
          <a:xfrm>
            <a:off x="167239" y="0"/>
            <a:ext cx="62082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latin typeface="Bahnschrift SemiBold Condensed" panose="020B0502040204020203" pitchFamily="34" charset="0"/>
              </a:rPr>
              <a:t>Область применения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CA9A88-D1C9-99EA-92D9-B22A0FEAA1A7}"/>
              </a:ext>
            </a:extLst>
          </p:cNvPr>
          <p:cNvSpPr txBox="1"/>
          <p:nvPr/>
        </p:nvSpPr>
        <p:spPr>
          <a:xfrm>
            <a:off x="167239" y="713302"/>
            <a:ext cx="62082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sz="4400" dirty="0">
                <a:latin typeface="Bahnschrift SemiBold Condensed" panose="020B0502040204020203" pitchFamily="34" charset="0"/>
              </a:rPr>
              <a:t>Разработанной программы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3E8CA9-6C25-A519-1FD5-71BA1FCA7DB2}"/>
              </a:ext>
            </a:extLst>
          </p:cNvPr>
          <p:cNvSpPr txBox="1"/>
          <p:nvPr/>
        </p:nvSpPr>
        <p:spPr>
          <a:xfrm>
            <a:off x="167239" y="1427631"/>
            <a:ext cx="721030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BY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Область применения результатов данного исследования охватывает несколько сфер деятельности. В частности, результаты могут быть полезны в образовательных учреждениях в качестве демонстрационного материала при изучении основ разработки игровых приложений, работы с низкоуровневым графическим API </a:t>
            </a:r>
            <a:r>
              <a:rPr lang="ru-BY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DirectDraw</a:t>
            </a:r>
            <a:r>
              <a:rPr lang="ru-BY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реализации физических моделей. Кроме того, программа может служить основой для дальнейших исследований в области моделирования физики отскока.</a:t>
            </a:r>
          </a:p>
        </p:txBody>
      </p:sp>
      <p:pic>
        <p:nvPicPr>
          <p:cNvPr id="6152" name="Picture 8">
            <a:extLst>
              <a:ext uri="{FF2B5EF4-FFF2-40B4-BE49-F238E27FC236}">
                <a16:creationId xmlns:a16="http://schemas.microsoft.com/office/drawing/2014/main" id="{4636D228-8C4C-A6F3-74C9-1C6AFC837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928110"/>
            <a:ext cx="4572000" cy="2929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35149A-6196-F6E6-EC28-990E9AC3C8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561" y="769441"/>
            <a:ext cx="2452423" cy="242718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1028339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225C1529-B3DA-3984-055D-6C6612B97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EE2177-CA50-4F6A-A194-52B0C0DAD256}"/>
              </a:ext>
            </a:extLst>
          </p:cNvPr>
          <p:cNvSpPr txBox="1"/>
          <p:nvPr/>
        </p:nvSpPr>
        <p:spPr>
          <a:xfrm>
            <a:off x="173054" y="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latin typeface="Bahnschrift SemiBold Condensed" panose="020B0502040204020203" pitchFamily="34" charset="0"/>
              </a:rPr>
              <a:t>Аналоги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FDD35C-498E-2BB0-A32C-A95351258F07}"/>
              </a:ext>
            </a:extLst>
          </p:cNvPr>
          <p:cNvSpPr txBox="1"/>
          <p:nvPr/>
        </p:nvSpPr>
        <p:spPr>
          <a:xfrm>
            <a:off x="116907" y="577496"/>
            <a:ext cx="62082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latin typeface="Bahnschrift SemiBold Condensed" panose="020B0502040204020203" pitchFamily="34" charset="0"/>
              </a:rPr>
              <a:t>Разработанной программы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E99EA8-E253-0702-C081-6903527CB6C4}"/>
              </a:ext>
            </a:extLst>
          </p:cNvPr>
          <p:cNvSpPr txBox="1"/>
          <p:nvPr/>
        </p:nvSpPr>
        <p:spPr>
          <a:xfrm>
            <a:off x="173054" y="4137242"/>
            <a:ext cx="562507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Оригинальная аркадная игра, выпущенная в 1972 году. Представляет собой чёрно-белое изображение с двумя вертикальными линиями-ракетками, квадратным мячом и пунктирной линией по центру. Управление осуществляется аналоговыми ручками. К сильным сторонам относятся новаторство и простота, а также высокая вовлечённость в соревновательном режиме. Слабые стороны – отсутствие звука в первых версиях и примитивная физика, реализованная </a:t>
            </a:r>
            <a:r>
              <a:rPr lang="ru-BY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аппаратно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06B8A7-FBDF-0399-E7BC-A78A132BD118}"/>
              </a:ext>
            </a:extLst>
          </p:cNvPr>
          <p:cNvSpPr txBox="1"/>
          <p:nvPr/>
        </p:nvSpPr>
        <p:spPr>
          <a:xfrm>
            <a:off x="1584657" y="1542192"/>
            <a:ext cx="2606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Программа 1 –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Pong (Atari)</a:t>
            </a:r>
            <a:endParaRPr lang="ru-RU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6817FA-5024-5EA6-9E1D-78EEA49B6A08}"/>
              </a:ext>
            </a:extLst>
          </p:cNvPr>
          <p:cNvSpPr txBox="1"/>
          <p:nvPr/>
        </p:nvSpPr>
        <p:spPr>
          <a:xfrm>
            <a:off x="7413540" y="384720"/>
            <a:ext cx="2750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Программа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2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–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Arkanoid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(Taito)</a:t>
            </a:r>
            <a:endParaRPr lang="ru-RU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03A9AC-1227-89B1-2DE5-76E2A0CF3AA3}"/>
              </a:ext>
            </a:extLst>
          </p:cNvPr>
          <p:cNvSpPr txBox="1"/>
          <p:nvPr/>
        </p:nvSpPr>
        <p:spPr>
          <a:xfrm>
            <a:off x="6096000" y="3927295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Классический </a:t>
            </a:r>
            <a:r>
              <a:rPr lang="ru-BY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арканоид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выпущенный в 1986 году, являющийся наследником пинг-понга. Игрок управляет платформой в нижней части экрана, а мяч отбивается о блоки, при разрушении которых появляются бонусы. Сильными сторонами являются разнообразие геймплея, включающее блоки и бонусы, более сложная физика отскока от разных поверхностей и затягивающий игровой процесс. Слабые стороны относительно классического пинг-понга – только одиночный режим и отсутствие соревновательного аспекта.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 descr="Pong был скучным, а люди его любили / Хабр">
            <a:extLst>
              <a:ext uri="{FF2B5EF4-FFF2-40B4-BE49-F238E27FC236}">
                <a16:creationId xmlns:a16="http://schemas.microsoft.com/office/drawing/2014/main" id="{12D2013F-7905-825E-76EC-1F5FD28F30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499" y="2028022"/>
            <a:ext cx="3532765" cy="1992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 descr="Arkanoid — Википедия">
            <a:extLst>
              <a:ext uri="{FF2B5EF4-FFF2-40B4-BE49-F238E27FC236}">
                <a16:creationId xmlns:a16="http://schemas.microsoft.com/office/drawing/2014/main" id="{5A63C168-4EB0-4313-6ED0-562691A1AA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724" y="878173"/>
            <a:ext cx="3073977" cy="28818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8166100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225C1529-B3DA-3984-055D-6C6612B97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937A3C-5B5F-3BD5-8E6B-4265B0D6EB56}"/>
              </a:ext>
            </a:extLst>
          </p:cNvPr>
          <p:cNvSpPr txBox="1"/>
          <p:nvPr/>
        </p:nvSpPr>
        <p:spPr>
          <a:xfrm>
            <a:off x="1165383" y="329577"/>
            <a:ext cx="3348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Программа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3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–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Pong Masters (mobile)</a:t>
            </a:r>
            <a:endParaRPr lang="ru-RU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71584-AA41-BE1D-A818-9872DC171AB3}"/>
              </a:ext>
            </a:extLst>
          </p:cNvPr>
          <p:cNvSpPr txBox="1"/>
          <p:nvPr/>
        </p:nvSpPr>
        <p:spPr>
          <a:xfrm>
            <a:off x="7377545" y="329577"/>
            <a:ext cx="3233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Программа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4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–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Pong Classic (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Яндекс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)</a:t>
            </a:r>
            <a:endParaRPr lang="ru-RU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DEE9EB-50E3-EFE7-08CD-F8573B593AE6}"/>
              </a:ext>
            </a:extLst>
          </p:cNvPr>
          <p:cNvSpPr txBox="1"/>
          <p:nvPr/>
        </p:nvSpPr>
        <p:spPr>
          <a:xfrm>
            <a:off x="269773" y="4341908"/>
            <a:ext cx="54644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Современные мобильные игры, отличающиеся простой графикой, управлением касанием и бесплатным распространением с рекламой. Сильные стороны – доступность и простота управления для сенсорных экранов. К слабым сторонам относятся примитивная физика, наличие рекламы и микротранзакций, а также отсутствие глубины.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59F956-07D7-40C9-4B85-46ECB378B6D4}"/>
              </a:ext>
            </a:extLst>
          </p:cNvPr>
          <p:cNvSpPr txBox="1"/>
          <p:nvPr/>
        </p:nvSpPr>
        <p:spPr>
          <a:xfrm>
            <a:off x="6004038" y="3789339"/>
            <a:ext cx="61879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Браузерная игра, доступная на платформе Яндекс Игры. Представляет собой минималистичную двумерную версию с двумя ракетками, мячом и цифровым табло. Управление осуществляется клавишами W/S и стрелками. Доступен режим против компьютера. Сильные стороны – запуск в браузере без установки, понятное управление, наличие ИИ и таблица рекордов. Слабые стороны – примитивная физика (угол отскока не меняется), отсутствие звука, рекламные вставки, отсутствие настройки сложности ИИ и невозможность сетевой игры.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85A61E1-A980-3EAD-1E86-0761EB8E62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702" y="873296"/>
            <a:ext cx="1852289" cy="32942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7BCA04-CD60-3997-7502-395CB3B2B8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0903" y="916109"/>
            <a:ext cx="4899487" cy="27581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327479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225C1529-B3DA-3984-055D-6C6612B97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A06E7D-D943-B02A-4AE7-43C00BDA11AF}"/>
              </a:ext>
            </a:extLst>
          </p:cNvPr>
          <p:cNvSpPr txBox="1"/>
          <p:nvPr/>
        </p:nvSpPr>
        <p:spPr>
          <a:xfrm>
            <a:off x="155408" y="84038"/>
            <a:ext cx="34793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0" dirty="0">
                <a:latin typeface="Bahnschrift SemiBold Condensed" panose="020B0502040204020203" pitchFamily="34" charset="0"/>
              </a:rPr>
              <a:t>Схема алгоритма</a:t>
            </a:r>
            <a:endParaRPr lang="ru-RU" sz="4400" dirty="0">
              <a:latin typeface="Bahnschrift SemiBold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4AA39-D972-5ACD-97A0-99D6E07DE12D}"/>
              </a:ext>
            </a:extLst>
          </p:cNvPr>
          <p:cNvSpPr txBox="1"/>
          <p:nvPr/>
        </p:nvSpPr>
        <p:spPr>
          <a:xfrm>
            <a:off x="-1" y="853479"/>
            <a:ext cx="8198427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3538"/>
            <a:r>
              <a:rPr lang="ru-BY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успешного проектирования программного обеспечения важно тщательно продумать алгоритмы, которые будут использоваться в программе. Одним из ключевых аспектов разработки игрового приложения является организация игрового цикла – основы любой игры.</a:t>
            </a:r>
          </a:p>
          <a:p>
            <a:pPr indent="363538"/>
            <a:r>
              <a:rPr lang="ru-BY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программного обеспечения «PING PONG» алгоритм игрового цикла включает следующие этапы: обработка ввода с клавиатуры (клавиши W, S, стрелки, P, </a:t>
            </a:r>
            <a:r>
              <a:rPr lang="ru-BY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  <a:r>
              <a:rPr lang="ru-BY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обновление координат ракеток с учётом нажатых клавиш и границ поля, расчёт нового положения мяча согласно формулам движения, проверка столкновений с границами поля и ракетками, фиксация голов с обновлением счёта и возвратом мяча в центр, проверка достижения 11 очков для завершения игры, а также отрисовка кадра с использованием двойной буферизации для устранения мерцания. </a:t>
            </a: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63538"/>
            <a:r>
              <a:rPr lang="ru-BY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Циклическая структура алгоритма обеспечивает непрерывную работу игры до достижения одним из игроков победы, после чего отображается экран окончания матча с указанием победителя.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D20F56-8D07-ED5D-351D-572B44BC4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907" y="0"/>
            <a:ext cx="29214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6115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225C1529-B3DA-3984-055D-6C6612B97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384299-23C2-40F9-7D08-8895DC3A6037}"/>
              </a:ext>
            </a:extLst>
          </p:cNvPr>
          <p:cNvSpPr txBox="1"/>
          <p:nvPr/>
        </p:nvSpPr>
        <p:spPr>
          <a:xfrm>
            <a:off x="192505" y="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0" dirty="0">
                <a:latin typeface="Bahnschrift SemiBold Condensed" panose="020B0502040204020203" pitchFamily="34" charset="0"/>
              </a:rPr>
              <a:t>Диаграмма </a:t>
            </a:r>
            <a:r>
              <a:rPr lang="en-US" sz="4400" b="0" dirty="0">
                <a:latin typeface="Bahnschrift SemiBold Condensed" panose="020B0502040204020203" pitchFamily="34" charset="0"/>
              </a:rPr>
              <a:t>IDEF0</a:t>
            </a:r>
            <a:endParaRPr lang="ru-RU" sz="4400" dirty="0">
              <a:latin typeface="Bahnschrift SemiBold Condensed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D52D455-7125-3DFD-63C9-E1B319BD9AA6}"/>
              </a:ext>
            </a:extLst>
          </p:cNvPr>
          <p:cNvSpPr/>
          <p:nvPr/>
        </p:nvSpPr>
        <p:spPr>
          <a:xfrm>
            <a:off x="1932709" y="769441"/>
            <a:ext cx="8416636" cy="58391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F75B21-7F4D-1F5E-4E43-578906662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982" y="604517"/>
            <a:ext cx="12192000" cy="610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3243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225C1529-B3DA-3984-055D-6C6612B97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11DEBCD-3A3A-8744-AE62-3FE304EDE3EE}"/>
              </a:ext>
            </a:extLst>
          </p:cNvPr>
          <p:cNvSpPr/>
          <p:nvPr/>
        </p:nvSpPr>
        <p:spPr>
          <a:xfrm>
            <a:off x="1558636" y="301336"/>
            <a:ext cx="9112828" cy="63072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84031C-3CFA-2B63-581D-1DB64316B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590" y="111374"/>
            <a:ext cx="13248410" cy="663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56476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225C1529-B3DA-3984-055D-6C6612B97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22445E-20F1-518D-5738-760B4028219A}"/>
              </a:ext>
            </a:extLst>
          </p:cNvPr>
          <p:cNvSpPr txBox="1"/>
          <p:nvPr/>
        </p:nvSpPr>
        <p:spPr>
          <a:xfrm>
            <a:off x="254468" y="84975"/>
            <a:ext cx="42375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0" dirty="0">
                <a:latin typeface="Bahnschrift SemiBold Condensed" panose="020B0502040204020203" pitchFamily="34" charset="0"/>
              </a:rPr>
              <a:t>Диаграмма </a:t>
            </a:r>
            <a:r>
              <a:rPr lang="en-US" sz="4400" b="0" dirty="0">
                <a:latin typeface="Bahnschrift SemiBold Condensed" panose="020B0502040204020203" pitchFamily="34" charset="0"/>
              </a:rPr>
              <a:t>USE-CASE</a:t>
            </a:r>
            <a:endParaRPr lang="ru-RU" sz="4400" dirty="0">
              <a:latin typeface="Bahnschrift SemiBold Condensed" panose="020B0502040204020203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A44A3F-C3CC-0E14-26E7-506FE9458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138" y="854416"/>
            <a:ext cx="8442589" cy="58075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881593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225C1529-B3DA-3984-055D-6C6612B97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52924B-24D4-40AA-707B-49770F7C0837}"/>
              </a:ext>
            </a:extLst>
          </p:cNvPr>
          <p:cNvSpPr txBox="1"/>
          <p:nvPr/>
        </p:nvSpPr>
        <p:spPr>
          <a:xfrm>
            <a:off x="2283192" y="0"/>
            <a:ext cx="83467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0" dirty="0">
                <a:latin typeface="Bahnschrift SemiBold Condensed" panose="020B0502040204020203" pitchFamily="34" charset="0"/>
              </a:rPr>
              <a:t>Тестирование разработанного приложения</a:t>
            </a:r>
            <a:endParaRPr lang="ru-RU" sz="4400" dirty="0">
              <a:latin typeface="Bahnschrift SemiBold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4FEB0D-CF3B-5B01-A062-2932705CD46C}"/>
              </a:ext>
            </a:extLst>
          </p:cNvPr>
          <p:cNvSpPr txBox="1"/>
          <p:nvPr/>
        </p:nvSpPr>
        <p:spPr>
          <a:xfrm>
            <a:off x="162878" y="769441"/>
            <a:ext cx="51635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sz="28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Тестирование инициализации системы и главного меню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039E05-12FF-23C8-545A-ACF1EBF4CD78}"/>
              </a:ext>
            </a:extLst>
          </p:cNvPr>
          <p:cNvSpPr txBox="1"/>
          <p:nvPr/>
        </p:nvSpPr>
        <p:spPr>
          <a:xfrm>
            <a:off x="6540410" y="832008"/>
            <a:ext cx="54599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sz="28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Тестирование игрового процесса и физики отскока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F76DDB4-EDC2-794D-0BFB-1212E76BB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8" y="1786115"/>
            <a:ext cx="5440270" cy="47084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6A956B-8FFC-4F68-ADAF-6A7FD7799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546" y="1785827"/>
            <a:ext cx="5461025" cy="470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1282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842</Words>
  <Application>Microsoft Office PowerPoint</Application>
  <PresentationFormat>Широкоэкранный</PresentationFormat>
  <Paragraphs>50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Bahnschrift Condensed</vt:lpstr>
      <vt:lpstr>Bahnschrift SemiBold Condensed</vt:lpstr>
      <vt:lpstr>Calibri</vt:lpstr>
      <vt:lpstr>Calibri Light</vt:lpstr>
      <vt:lpstr>Times New Roman</vt:lpstr>
      <vt:lpstr>Тема Office</vt:lpstr>
      <vt:lpstr>Курсовой проект  Игровое приложение «Ping Pong» на DirectDraw по учебному предмету «Основы алгоритмизации и программирования»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«Редактор rtf-документов, включая таблицы и изображения»</dc:title>
  <dc:creator>MBCF-online Vova</dc:creator>
  <cp:lastModifiedBy>supwew e</cp:lastModifiedBy>
  <cp:revision>19</cp:revision>
  <dcterms:created xsi:type="dcterms:W3CDTF">2024-07-04T20:02:27Z</dcterms:created>
  <dcterms:modified xsi:type="dcterms:W3CDTF">2026-10-23T08:32:21Z</dcterms:modified>
</cp:coreProperties>
</file>